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3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0E9F8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🏥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8046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100" b="1" spc="200" kern="0" dirty="0">
                <a:solidFill>
                  <a:srgbClr val="FFFFF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基于 DeepSeek 大模型微调的</a:t>
            </a:r>
            <a:endParaRPr lang="en-US" sz="4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4100" b="1" spc="200" kern="0" dirty="0">
                <a:solidFill>
                  <a:srgbClr val="FFFFF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医疗专家模型</a:t>
            </a:r>
            <a:endParaRPr lang="en-US" sz="4100" dirty="0"/>
          </a:p>
        </p:txBody>
      </p:sp>
      <p:sp>
        <p:nvSpPr>
          <p:cNvPr id="5" name="Text 3"/>
          <p:cNvSpPr/>
          <p:nvPr/>
        </p:nvSpPr>
        <p:spPr>
          <a:xfrm>
            <a:off x="676656" y="31546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E9F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Medical Expert LLM fine-tuned by DeepSeek + LoRA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76656" y="3657600"/>
            <a:ext cx="5486400" cy="27432"/>
          </a:xfrm>
          <a:prstGeom prst="rect">
            <a:avLst/>
          </a:prstGeom>
          <a:solidFill>
            <a:srgbClr val="0E9F8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840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FE8E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课程汇报 · 大模型微调实战 · 2026-09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2976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FBF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DeepSeek-R1-Distill-Qwen-1.5B · PEFT / LoRA · FastAPI 部署</a:t>
            </a:r>
            <a:endParaRPr lang="en-US" sz="1100" dirty="0"/>
          </a:p>
        </p:txBody>
      </p:sp>
      <p:sp>
        <p:nvSpPr>
          <p:cNvPr id="9" name="AILabel"/>
          <p:cNvSpPr txBox="1"/>
          <p:nvPr/>
        </p:nvSpPr>
        <p:spPr>
          <a:xfrm>
            <a:off x="6564000" y="4563500"/>
            <a:ext cx="2400000" cy="400000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FFFFFF"/>
            </a:solidFill>
          </a:ln>
        </p:spPr>
        <p:txBody>
          <a:bodyPr wrap="square" rtlCol="0" anchor="ctr" lIns="91440" tIns="45720" rIns="91440" bIns="45720"/>
          <a:lstStyle/>
          <a:p>
            <a:pPr algn="ctr"/>
            <a:r>
              <a:rPr lang="zh-CN" sz="1400" b="1" dirty="0">
                <a:solidFill>
                  <a:srgbClr val="FFFFFF"/>
                </a:solidFill>
                <a:latin typeface="Arial"/>
                <a:ea typeface="SimSun"/>
              </a:rPr>
              <a:t>含 AI 生成</a:t>
            </a:r>
          </a:p>
        </p:txBody>
      </p:sp>
      <p:sp>
        <p:nvSpPr>
          <p:cNvPr id="10" name="AILabel"/>
          <p:cNvSpPr txBox="1"/>
          <p:nvPr/>
        </p:nvSpPr>
        <p:spPr>
          <a:xfrm>
            <a:off x="6564000" y="4563500"/>
            <a:ext cx="2400000" cy="400000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FFFFFF"/>
            </a:solidFill>
          </a:ln>
        </p:spPr>
        <p:txBody>
          <a:bodyPr wrap="square" rtlCol="0" anchor="ctr" lIns="91440" tIns="45720" rIns="91440" bIns="45720"/>
          <a:lstStyle/>
          <a:p>
            <a:pPr algn="ctr"/>
            <a:r>
              <a:rPr lang="zh-CN" sz="1400" b="1" dirty="0">
                <a:solidFill>
                  <a:srgbClr val="FFFFFF"/>
                </a:solidFill>
                <a:latin typeface="Arial"/>
                <a:ea typeface="SimSun"/>
              </a:rPr>
              <a:t>含 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spc="300" kern="0" dirty="0">
                <a:solidFill>
                  <a:srgbClr val="6B7A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CONTENTS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0303B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汇报目录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7947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6E6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6479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E9F8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01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691640" y="174650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303B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背景与问题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91640" y="216712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A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通用大模型在医疗场景的瓶颈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0" y="1600200"/>
            <a:ext cx="37947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6E6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76479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E9F8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02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5806440" y="174650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303B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技术方案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806440" y="216712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A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模型选型 · 微调框架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2743200"/>
            <a:ext cx="37947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6E6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90779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E9F8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03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1691640" y="288950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303B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数据准备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691640" y="331012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A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医疗问答数据集构建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2743200"/>
            <a:ext cx="37947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6E6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290779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E9F8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04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5806440" y="288950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303B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LoRA 微调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806440" y="331012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A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参数配置 · 训练 · 损失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3886200"/>
            <a:ext cx="37947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6E6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05079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E9F8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05</a:t>
            </a:r>
            <a:endParaRPr lang="en-US" sz="2500" dirty="0"/>
          </a:p>
        </p:txBody>
      </p:sp>
      <p:sp>
        <p:nvSpPr>
          <p:cNvPr id="22" name="Text 20"/>
          <p:cNvSpPr/>
          <p:nvPr/>
        </p:nvSpPr>
        <p:spPr>
          <a:xfrm>
            <a:off x="1691640" y="403250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303B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效果验证与部署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691640" y="445312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A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微调前后对比 · 接口化部署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3886200"/>
            <a:ext cx="37947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6E6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405079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E9F8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06</a:t>
            </a:r>
            <a:endParaRPr lang="en-US" sz="2500" dirty="0"/>
          </a:p>
        </p:txBody>
      </p:sp>
      <p:sp>
        <p:nvSpPr>
          <p:cNvPr id="26" name="Text 24"/>
          <p:cNvSpPr/>
          <p:nvPr/>
        </p:nvSpPr>
        <p:spPr>
          <a:xfrm>
            <a:off x="5806440" y="403250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303B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总结与展望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5806440" y="445312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A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成果 · 调优方向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479145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DeepSeek 医疗专家 · 汇报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503920" y="4791456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8872" cy="457200"/>
          </a:xfrm>
          <a:prstGeom prst="rect">
            <a:avLst/>
          </a:prstGeom>
          <a:solidFill>
            <a:srgbClr val="0E9F8F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0175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spc="150" kern="0" dirty="0">
                <a:solidFill>
                  <a:srgbClr val="20303B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通用大模型在医疗领域的四大瓶颈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6E6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64008" cy="420624"/>
          </a:xfrm>
          <a:prstGeom prst="rect">
            <a:avLst/>
          </a:prstGeom>
          <a:solidFill>
            <a:srgbClr val="0E9F8F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37160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9F8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专业术语理解偏差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017520" y="1371600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03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混淆医学专有词（如“转移”指癌扩散而非普通词义）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0" y="137160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2B1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风险：诊断建议错误、报告误读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1993392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6E6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084832"/>
            <a:ext cx="64008" cy="420624"/>
          </a:xfrm>
          <a:prstGeom prst="rect">
            <a:avLst/>
          </a:prstGeom>
          <a:solidFill>
            <a:srgbClr val="0E9F8F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084832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9F8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逻辑推理严谨性不足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017520" y="2084832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03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忽略医学上下文（如患者过敏史、禁忌用药）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0" y="208483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2B1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风险：推荐禁忌药物、方案冲突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2706624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6E6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798064"/>
            <a:ext cx="64008" cy="420624"/>
          </a:xfrm>
          <a:prstGeom prst="rect">
            <a:avLst/>
          </a:prstGeom>
          <a:solidFill>
            <a:srgbClr val="0E9F8F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2798064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9F8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知识更新滞后性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017520" y="2798064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03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依赖过时指南（如旧版肿瘤分期标准）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83680" y="2798064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2B1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风险：不符合最新临床实践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3419856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6E6E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511296"/>
            <a:ext cx="64008" cy="420624"/>
          </a:xfrm>
          <a:prstGeom prst="rect">
            <a:avLst/>
          </a:prstGeom>
          <a:solidFill>
            <a:srgbClr val="0E9F8F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" y="351129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9F8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隐私难以保障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017520" y="3511296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03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难以遵循 HIPAA 等医疗隐私法规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83680" y="3511296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2B1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风险：数据泄露、法律追责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4224528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FF6E3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33425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8A6300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核心结论：微调能优化问答语气、增强推理、灌注领域知识 —— 医疗正是一个强专业、高价值的典型场景。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57200" y="479145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背景与问题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503920" y="4791456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8872" cy="457200"/>
          </a:xfrm>
          <a:prstGeom prst="rect">
            <a:avLst/>
          </a:prstGeom>
          <a:solidFill>
            <a:srgbClr val="0E9F8F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0175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spc="150" kern="0" dirty="0">
                <a:solidFill>
                  <a:srgbClr val="20303B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项目价值：医疗专家大模型的受益方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28346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6E6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002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👤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E9F8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患者端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77240" y="30175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03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7×24 智能应答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33832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03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秒级响应急诊咨询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" y="3794760"/>
            <a:ext cx="2011680" cy="292608"/>
          </a:xfrm>
          <a:prstGeom prst="roundRect">
            <a:avLst>
              <a:gd name="adj" fmla="val 156250"/>
            </a:avLst>
          </a:prstGeom>
          <a:solidFill>
            <a:srgbClr val="F2F8F7"/>
          </a:solidFill>
          <a:ln w="12700">
            <a:solidFill>
              <a:srgbClr val="D6E6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82219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A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辅助健康知识普及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91840" y="1371600"/>
            <a:ext cx="2651760" cy="28346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6E6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16002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🩺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3474720" y="2468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E9F8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医生端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3611880" y="30175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03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辅助跨学科病例分析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11880" y="33832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03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诊疗参考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11880" y="3794760"/>
            <a:ext cx="2011680" cy="292608"/>
          </a:xfrm>
          <a:prstGeom prst="roundRect">
            <a:avLst>
              <a:gd name="adj" fmla="val 156250"/>
            </a:avLst>
          </a:prstGeom>
          <a:solidFill>
            <a:srgbClr val="F2F8F7"/>
          </a:solidFill>
          <a:ln w="12700">
            <a:solidFill>
              <a:srgbClr val="D6E6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11880" y="382219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A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减轻事务性工作负担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26480" y="1371600"/>
            <a:ext cx="2651760" cy="28346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6E6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16002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🏢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6309360" y="2468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E9F8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机构端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446520" y="30175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03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医疗经验固化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46520" y="33832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03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知识库集成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46520" y="3794760"/>
            <a:ext cx="2011680" cy="292608"/>
          </a:xfrm>
          <a:prstGeom prst="roundRect">
            <a:avLst>
              <a:gd name="adj" fmla="val 156250"/>
            </a:avLst>
          </a:prstGeom>
          <a:solidFill>
            <a:srgbClr val="F2F8F7"/>
          </a:solidFill>
          <a:ln w="12700">
            <a:solidFill>
              <a:srgbClr val="D6E6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46520" y="382219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A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降低知识流失风险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479145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背景与问题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503920" y="4791456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8872" cy="457200"/>
          </a:xfrm>
          <a:prstGeom prst="rect">
            <a:avLst/>
          </a:prstGeom>
          <a:solidFill>
            <a:srgbClr val="0E9F8F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0175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spc="150" kern="0" dirty="0">
                <a:solidFill>
                  <a:srgbClr val="20303B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技术方案：模型选型与微调框架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023360" cy="3429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6E6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303B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模型选型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1901952"/>
            <a:ext cx="3474720" cy="822960"/>
          </a:xfrm>
          <a:prstGeom prst="roundRect">
            <a:avLst>
              <a:gd name="adj" fmla="val 8889"/>
            </a:avLst>
          </a:prstGeom>
          <a:solidFill>
            <a:srgbClr val="F2F8F7"/>
          </a:solidFill>
          <a:ln w="12700">
            <a:solidFill>
              <a:srgbClr val="0E9F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965960"/>
            <a:ext cx="3438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9F8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DeepSeek-R1-Distill-Qwen-1.5B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R1 推理蒸馏到小参数，8GB 显存即可运行，适合现场演示（本项目采用）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3611880"/>
            <a:ext cx="54864" cy="777240"/>
          </a:xfrm>
          <a:prstGeom prst="rect">
            <a:avLst/>
          </a:prstGeom>
          <a:solidFill>
            <a:srgbClr val="F2B134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639312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03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R1 Distill 基于 Qwen2.5/Llama3 蒸馏，实现推理能力高效迁移；更大算力可换 7B/8B 基座提升诊断精度。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63440" y="1234440"/>
            <a:ext cx="4023360" cy="3429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6E6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3716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303B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微调框架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37760" y="1965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E9F8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PEFT / LoRA ✓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812280" y="19659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A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参数高效、显存低，本项目主选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937760" y="253288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E9F8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LLaMA-Factory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812280" y="253288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A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零代码 WebUI，快速演示（备选）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937760" y="309981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E9F8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Unsloth / XTuner / SWIFT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812280" y="309981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A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轻量化、可选项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937760" y="3749040"/>
            <a:ext cx="3474720" cy="566928"/>
          </a:xfrm>
          <a:prstGeom prst="roundRect">
            <a:avLst>
              <a:gd name="adj" fmla="val 12903"/>
            </a:avLst>
          </a:prstGeom>
          <a:solidFill>
            <a:srgbClr val="FFF6E3"/>
          </a:solidFill>
          <a:ln/>
        </p:spPr>
      </p:sp>
      <p:sp>
        <p:nvSpPr>
          <p:cNvPr id="20" name="Text 18"/>
          <p:cNvSpPr/>
          <p:nvPr/>
        </p:nvSpPr>
        <p:spPr>
          <a:xfrm>
            <a:off x="5074920" y="382219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8A63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LoRA 只训练低秩矩阵，微调后合并回基座，部署无需额外适配器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479145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技术方案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503920" y="4791456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8872" cy="457200"/>
          </a:xfrm>
          <a:prstGeom prst="rect">
            <a:avLst/>
          </a:prstGeom>
          <a:solidFill>
            <a:srgbClr val="0E9F8F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0175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spc="150" kern="0" dirty="0">
                <a:solidFill>
                  <a:srgbClr val="20303B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全流程：从环境到部署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8745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0E9F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264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B13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75564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0303B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环境准备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2414016" y="1764792"/>
            <a:ext cx="91440" cy="146304"/>
          </a:xfrm>
          <a:prstGeom prst="rect">
            <a:avLst/>
          </a:prstGeom>
          <a:solidFill>
            <a:srgbClr val="0E9F8F"/>
          </a:solidFill>
          <a:ln/>
        </p:spPr>
      </p:sp>
      <p:sp>
        <p:nvSpPr>
          <p:cNvPr id="8" name="Shape 6"/>
          <p:cNvSpPr/>
          <p:nvPr/>
        </p:nvSpPr>
        <p:spPr>
          <a:xfrm>
            <a:off x="2450592" y="1371600"/>
            <a:ext cx="18745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0E9F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42032" y="14264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B13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96312" y="175564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0303B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数据准备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407408" y="1764792"/>
            <a:ext cx="91440" cy="146304"/>
          </a:xfrm>
          <a:prstGeom prst="rect">
            <a:avLst/>
          </a:prstGeom>
          <a:solidFill>
            <a:srgbClr val="0E9F8F"/>
          </a:solidFill>
          <a:ln/>
        </p:spPr>
      </p:sp>
      <p:sp>
        <p:nvSpPr>
          <p:cNvPr id="12" name="Shape 10"/>
          <p:cNvSpPr/>
          <p:nvPr/>
        </p:nvSpPr>
        <p:spPr>
          <a:xfrm>
            <a:off x="4443984" y="1371600"/>
            <a:ext cx="18745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0E9F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35424" y="14264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B13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89704" y="175564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0303B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模型准备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400800" y="1764792"/>
            <a:ext cx="91440" cy="146304"/>
          </a:xfrm>
          <a:prstGeom prst="rect">
            <a:avLst/>
          </a:prstGeom>
          <a:solidFill>
            <a:srgbClr val="0E9F8F"/>
          </a:solidFill>
          <a:ln/>
        </p:spPr>
      </p:sp>
      <p:sp>
        <p:nvSpPr>
          <p:cNvPr id="16" name="Shape 14"/>
          <p:cNvSpPr/>
          <p:nvPr/>
        </p:nvSpPr>
        <p:spPr>
          <a:xfrm>
            <a:off x="6437376" y="1371600"/>
            <a:ext cx="18745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0E9F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28816" y="14264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B13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83096" y="175564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0303B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格式转换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457200" y="2606040"/>
            <a:ext cx="18745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0E9F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66090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B13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299008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0303B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LoRA 微调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2414016" y="2999232"/>
            <a:ext cx="91440" cy="146304"/>
          </a:xfrm>
          <a:prstGeom prst="rect">
            <a:avLst/>
          </a:prstGeom>
          <a:solidFill>
            <a:srgbClr val="0E9F8F"/>
          </a:solidFill>
          <a:ln/>
        </p:spPr>
      </p:sp>
      <p:sp>
        <p:nvSpPr>
          <p:cNvPr id="23" name="Shape 21"/>
          <p:cNvSpPr/>
          <p:nvPr/>
        </p:nvSpPr>
        <p:spPr>
          <a:xfrm>
            <a:off x="2450592" y="2606040"/>
            <a:ext cx="18745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0E9F8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42032" y="266090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B13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6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496312" y="299008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0303B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结果验证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4407408" y="2999232"/>
            <a:ext cx="91440" cy="146304"/>
          </a:xfrm>
          <a:prstGeom prst="rect">
            <a:avLst/>
          </a:prstGeom>
          <a:solidFill>
            <a:srgbClr val="0E9F8F"/>
          </a:solidFill>
          <a:ln/>
        </p:spPr>
      </p:sp>
      <p:sp>
        <p:nvSpPr>
          <p:cNvPr id="27" name="Shape 25"/>
          <p:cNvSpPr/>
          <p:nvPr/>
        </p:nvSpPr>
        <p:spPr>
          <a:xfrm>
            <a:off x="4443984" y="2606040"/>
            <a:ext cx="18745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0E9F8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35424" y="266090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B13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7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489704" y="299008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0303B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模型合并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6400800" y="2999232"/>
            <a:ext cx="91440" cy="146304"/>
          </a:xfrm>
          <a:prstGeom prst="rect">
            <a:avLst/>
          </a:prstGeom>
          <a:solidFill>
            <a:srgbClr val="0E9F8F"/>
          </a:solidFill>
          <a:ln/>
        </p:spPr>
      </p:sp>
      <p:sp>
        <p:nvSpPr>
          <p:cNvPr id="31" name="Shape 29"/>
          <p:cNvSpPr/>
          <p:nvPr/>
        </p:nvSpPr>
        <p:spPr>
          <a:xfrm>
            <a:off x="6437376" y="2606040"/>
            <a:ext cx="18745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0E9F8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28816" y="266090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B13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8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83096" y="299008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0303B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接口部署</a:t>
            </a:r>
            <a:endParaRPr lang="en-US" sz="1450" dirty="0"/>
          </a:p>
        </p:txBody>
      </p:sp>
      <p:sp>
        <p:nvSpPr>
          <p:cNvPr id="34" name="Shape 32"/>
          <p:cNvSpPr/>
          <p:nvPr/>
        </p:nvSpPr>
        <p:spPr>
          <a:xfrm>
            <a:off x="457200" y="3794760"/>
            <a:ext cx="54864" cy="777240"/>
          </a:xfrm>
          <a:prstGeom prst="rect">
            <a:avLst/>
          </a:prstGeom>
          <a:solidFill>
            <a:srgbClr val="F2B134"/>
          </a:solidFill>
          <a:ln/>
        </p:spPr>
      </p:sp>
      <p:sp>
        <p:nvSpPr>
          <p:cNvPr id="35" name="Text 33"/>
          <p:cNvSpPr/>
          <p:nvPr/>
        </p:nvSpPr>
        <p:spPr>
          <a:xfrm>
            <a:off x="685800" y="3822192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03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本项目完整实现该链条：前六步在汇报中现场运行，最后两步“合并、部署”落地为可交付的医疗模型与 HTTP 服务。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457200" y="479145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技术方案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503920" y="4791456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8872" cy="457200"/>
          </a:xfrm>
          <a:prstGeom prst="rect">
            <a:avLst/>
          </a:prstGeom>
          <a:solidFill>
            <a:srgbClr val="0E9F8F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0175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spc="150" kern="0" dirty="0">
                <a:solidFill>
                  <a:srgbClr val="20303B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数据准备：格式转换（data_process.py）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65760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D6E6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173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A89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原始数据 · medical_cot_zh.jsonl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2057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9F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Question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331720" y="20574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3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患者提问 / 症状描述（模型输入）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85800" y="277063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9F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Complex_CoT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331720" y="277063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3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医学思考过程（要模仿的推理）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5800" y="348386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9F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Response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331720" y="3483864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3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最终医学答案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85800" y="4114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约 2 万条医学问答对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60520" y="274320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2B1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3400" dirty="0"/>
          </a:p>
        </p:txBody>
      </p:sp>
      <p:sp>
        <p:nvSpPr>
          <p:cNvPr id="14" name="Shape 12"/>
          <p:cNvSpPr/>
          <p:nvPr/>
        </p:nvSpPr>
        <p:spPr>
          <a:xfrm>
            <a:off x="4572000" y="1280160"/>
            <a:ext cx="365760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5240">
            <a:solidFill>
              <a:srgbClr val="0E9F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4173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9F8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转换后 · train.jsonl / val.jsonl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00600" y="2057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9F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"input"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55080" y="20574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3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用户问题（Question）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00600" y="277063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9F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"output"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55080" y="277063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3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思考链 + 答案（CoT\nResponse）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00600" y="348386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9F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"instruction"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55080" y="3483864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3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系统角色：医疗专家设定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00600" y="4114800"/>
            <a:ext cx="3200400" cy="384048"/>
          </a:xfrm>
          <a:prstGeom prst="roundRect">
            <a:avLst>
              <a:gd name="adj" fmla="val 19048"/>
            </a:avLst>
          </a:prstGeom>
          <a:solidFill>
            <a:srgbClr val="FFF6E3"/>
          </a:solidFill>
          <a:ln/>
        </p:spPr>
      </p:sp>
      <p:sp>
        <p:nvSpPr>
          <p:cNvPr id="23" name="Text 21"/>
          <p:cNvSpPr/>
          <p:nvPr/>
        </p:nvSpPr>
        <p:spPr>
          <a:xfrm>
            <a:off x="4892040" y="416966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63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 9:1 划分成训练集 / 验证集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79145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数据准备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503920" y="4791456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8872" cy="457200"/>
          </a:xfrm>
          <a:prstGeom prst="rect">
            <a:avLst/>
          </a:prstGeom>
          <a:solidFill>
            <a:srgbClr val="0E9F8F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0175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spc="150" kern="0" dirty="0">
                <a:solidFill>
                  <a:srgbClr val="20303B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数据划分与规模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6E6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E9F8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2 万条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48640" y="22402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原始医学问答对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78608" y="137160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6E6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70048" y="16002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E9F8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1000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2670048" y="22402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训练集样本（上限可控）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0016" y="137160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6E6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91456" y="16002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E9F8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100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4791456" y="22402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验证集样本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21424" y="137160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6E6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12864" y="16002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E9F8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9 : 1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6912864" y="22402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训练 / 验证比例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82296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6E6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246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303B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设计权衡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31520" y="365760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03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用 TRAIN_COUNT / VAL_COUNT 控制采样量，把单次训练控制在“现场可演示”时长（≈1 小时）内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03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对超长思考链截断、但完整保留标准答案，让模型聚焦“先思考后回答”的医学推理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03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固定随机种子，保证训练 / 验证划分可复现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479145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数据准备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503920" y="4791456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8872" cy="457200"/>
          </a:xfrm>
          <a:prstGeom prst="rect">
            <a:avLst/>
          </a:prstGeom>
          <a:solidFill>
            <a:srgbClr val="0E9F8F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0175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spc="150" kern="0" dirty="0">
                <a:solidFill>
                  <a:srgbClr val="20303B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LoRA：参数高效微调（PEFT）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206240" cy="3429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6E6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17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A89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全参数微调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03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更新全部权重 · 显存 / 成本高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240280"/>
            <a:ext cx="3657600" cy="27432"/>
          </a:xfrm>
          <a:prstGeom prst="rect">
            <a:avLst/>
          </a:prstGeom>
          <a:solidFill>
            <a:srgbClr val="D6E6E2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377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9F8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LoRA 微调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283464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03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冻结原始权重，只训练低秩矩阵 B·A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321868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03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ΔW = B·A，远小于全模型参数量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360273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03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显存占用低 → 8GB 显卡也能训练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1234440"/>
            <a:ext cx="3840480" cy="3429000"/>
          </a:xfrm>
          <a:prstGeom prst="roundRect">
            <a:avLst>
              <a:gd name="adj" fmla="val 2667"/>
            </a:avLst>
          </a:prstGeom>
          <a:solidFill>
            <a:srgbClr val="053B38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155448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 = W₀·x + ΔW·x</a:t>
            </a:r>
            <a:endParaRPr lang="en-US" sz="1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ΔW = (α/r) · B·A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029200" y="28803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8E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 低秩维数 · α 缩放系数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FE8E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（本项目 r=16, α=32，α=2r）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35661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2B13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作用：让模型学会“医疗专家式”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2B13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的表达范式与规范建议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479145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LoRA 微调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503920" y="4791456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8872" cy="457200"/>
          </a:xfrm>
          <a:prstGeom prst="rect">
            <a:avLst/>
          </a:prstGeom>
          <a:solidFill>
            <a:srgbClr val="0E9F8F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0175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spc="150" kern="0" dirty="0">
                <a:solidFill>
                  <a:srgbClr val="20303B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LoRA 配置参数（LoraConfig）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6E6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44752"/>
            <a:ext cx="54864" cy="420624"/>
          </a:xfrm>
          <a:prstGeom prst="rect">
            <a:avLst/>
          </a:prstGeom>
          <a:solidFill>
            <a:srgbClr val="0E9F8F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47218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E9F8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r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286000" y="147218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03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16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754880" y="147218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A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低秩矩阵维数（提至 16，增强医学知识容量）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029968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6E6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103120"/>
            <a:ext cx="54864" cy="420624"/>
          </a:xfrm>
          <a:prstGeom prst="rect">
            <a:avLst/>
          </a:prstGeom>
          <a:solidFill>
            <a:srgbClr val="0E9F8F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13055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E9F8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lora_alpha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286000" y="21305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03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32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754880" y="21305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A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缩放系数，与 r 配套（α=2r）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2688336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6E6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761488"/>
            <a:ext cx="54864" cy="420624"/>
          </a:xfrm>
          <a:prstGeom prst="rect">
            <a:avLst/>
          </a:prstGeom>
          <a:solidFill>
            <a:srgbClr val="0E9F8F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2788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E9F8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lora_dropout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286000" y="2788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03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0.05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754880" y="27889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A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LoRA 层丢弃率，范围 [0,1)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3346704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6E6E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419856"/>
            <a:ext cx="54864" cy="420624"/>
          </a:xfrm>
          <a:prstGeom prst="rect">
            <a:avLst/>
          </a:prstGeom>
          <a:solidFill>
            <a:srgbClr val="0E9F8F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" y="344728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E9F8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target_modules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286000" y="34472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03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q/k/v/o、gate/up/down_proj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754880" y="34472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A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覆盖 Qwen2.5 架构全部注意力与 MLP 矩阵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4005072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6E6E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078224"/>
            <a:ext cx="54864" cy="420624"/>
          </a:xfrm>
          <a:prstGeom prst="rect">
            <a:avLst/>
          </a:prstGeom>
          <a:solidFill>
            <a:srgbClr val="0E9F8F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" y="410565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E9F8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task_type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2286000" y="410565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03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CAUSAL_LM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754880" y="410565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A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因果语言建模任务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479145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LoRA 微调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503920" y="4791456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8872" cy="457200"/>
          </a:xfrm>
          <a:prstGeom prst="rect">
            <a:avLst/>
          </a:prstGeom>
          <a:solidFill>
            <a:srgbClr val="0E9F8F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0175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spc="150" kern="0" dirty="0">
                <a:solidFill>
                  <a:srgbClr val="20303B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训练参数（TrainingArguments）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D6E6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8074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E9F8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num_train_epochs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474720" y="138074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03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394960" y="138074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1000 条 ×2 ≈ 500 步，1 小时内收敛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801368"/>
            <a:ext cx="822960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D6E6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8562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E9F8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learning_rate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474720" y="18562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03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5e-5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394960" y="185623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微降以缓解训练损失震荡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276856"/>
            <a:ext cx="822960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D6E6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3317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E9F8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per_device_train_batch_size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474720" y="23317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03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394960" y="23317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8GB 显存友好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752344"/>
            <a:ext cx="822960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D6E6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8072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E9F8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gradient_accumulation_steps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474720" y="28072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03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394960" y="280720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等效 batch=4，稳定训练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227832"/>
            <a:ext cx="822960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D6E6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28269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E9F8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eval_strategy / eval_steps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474720" y="328269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03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steps / 50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394960" y="328269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训练过程多次验证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703320"/>
            <a:ext cx="822960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D6E6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375818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E9F8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logging_steps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474720" y="375818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03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394960" y="375818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 10 步打印日志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178808"/>
            <a:ext cx="822960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D6E6E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42336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E9F8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save_steps / save_total_limit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474720" y="42336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03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25 / 2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394960" y="423367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按步保存，最多保留 2 份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479145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LoRA 微调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503920" y="4791456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8872" cy="457200"/>
          </a:xfrm>
          <a:prstGeom prst="rect">
            <a:avLst/>
          </a:prstGeom>
          <a:solidFill>
            <a:srgbClr val="0E9F8F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0175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spc="150" kern="0" dirty="0">
                <a:solidFill>
                  <a:srgbClr val="20303B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训练结果与损失曲线</a:t>
            </a:r>
            <a:endParaRPr lang="en-US" sz="2600" dirty="0"/>
          </a:p>
        </p:txBody>
      </p:sp>
      <p:pic>
        <p:nvPicPr>
          <p:cNvPr id="4" name="Image 0" descr="docs/assets/loss_curve_1693x10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0371"/>
            <a:ext cx="5120640" cy="330285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52160" y="1280160"/>
            <a:ext cx="2834640" cy="32918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5240">
            <a:solidFill>
              <a:srgbClr val="0E9F8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053328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9F8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收敛情况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126480" y="2020824"/>
            <a:ext cx="146304" cy="146304"/>
          </a:xfrm>
          <a:prstGeom prst="ellipse">
            <a:avLst/>
          </a:prstGeom>
          <a:solidFill>
            <a:srgbClr val="0E9F8F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0" y="1965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03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训练损失（蓝）整体下降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26480" y="2587752"/>
            <a:ext cx="146304" cy="146304"/>
          </a:xfrm>
          <a:prstGeom prst="ellipse">
            <a:avLst/>
          </a:prstGeom>
          <a:solidFill>
            <a:srgbClr val="0E9F8F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0" y="25328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03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验证损失（橙）同步收敛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26480" y="3154680"/>
            <a:ext cx="146304" cy="146304"/>
          </a:xfrm>
          <a:prstGeom prst="ellipse">
            <a:avLst/>
          </a:prstGeom>
          <a:solidFill>
            <a:srgbClr val="0E9F8F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0" y="309981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03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两者无明显偏离 → 未过拟合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126480" y="3721608"/>
            <a:ext cx="146304" cy="146304"/>
          </a:xfrm>
          <a:prstGeom prst="ellipse">
            <a:avLst/>
          </a:prstGeom>
          <a:solidFill>
            <a:srgbClr val="0E9F8F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0" y="366674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03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LoRA 有效学到医疗知识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479145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LoRA 微调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503920" y="4791456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8872" cy="457200"/>
          </a:xfrm>
          <a:prstGeom prst="rect">
            <a:avLst/>
          </a:prstGeom>
          <a:solidFill>
            <a:srgbClr val="0E9F8F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0175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spc="150" kern="0" dirty="0">
                <a:solidFill>
                  <a:srgbClr val="20303B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模型合并：LoRA → 医疗专家模型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645920" cy="17373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0E9F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0303B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原始基座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A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DeepSeek-R1-Distill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A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-1.5B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414016" y="1463040"/>
            <a:ext cx="1645920" cy="17373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0E9F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05456" y="16002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0303B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LoRA 权重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505456" y="214884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A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output/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A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checkpoint-500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70832" y="1463040"/>
            <a:ext cx="1645920" cy="17373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0E9F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62272" y="16002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0303B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合并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462272" y="214884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A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merge_and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A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_unload()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327648" y="1463040"/>
            <a:ext cx="1645920" cy="1737360"/>
          </a:xfrm>
          <a:prstGeom prst="roundRect">
            <a:avLst>
              <a:gd name="adj" fmla="val 5556"/>
            </a:avLst>
          </a:prstGeom>
          <a:solidFill>
            <a:srgbClr val="0E9F8F"/>
          </a:solidFill>
          <a:ln w="12700">
            <a:solidFill>
              <a:srgbClr val="0E9F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16002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医疗专家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19088" y="214884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AF7F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…-1.5B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AF7F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-Medical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176272" y="2057400"/>
            <a:ext cx="182880" cy="18288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7" name="Text 15"/>
          <p:cNvSpPr/>
          <p:nvPr/>
        </p:nvSpPr>
        <p:spPr>
          <a:xfrm>
            <a:off x="2176272" y="2066544"/>
            <a:ext cx="182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+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33088" y="2057400"/>
            <a:ext cx="182880" cy="18288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9" name="Text 17"/>
          <p:cNvSpPr/>
          <p:nvPr/>
        </p:nvSpPr>
        <p:spPr>
          <a:xfrm>
            <a:off x="4133088" y="2066544"/>
            <a:ext cx="182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+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56616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E6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7947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03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合并后推理不再加载 LoRA 适配器 → 加载更快、部署更简洁（deepseek_merge.py）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57200" y="479145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效果验证与部署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503920" y="4791456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8872" cy="457200"/>
          </a:xfrm>
          <a:prstGeom prst="rect">
            <a:avLst/>
          </a:prstGeom>
          <a:solidFill>
            <a:srgbClr val="0E9F8F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0175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spc="150" kern="0" dirty="0">
                <a:solidFill>
                  <a:srgbClr val="20303B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效果验证：微调前后回答对比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69080" cy="54864"/>
          </a:xfrm>
          <a:prstGeom prst="rect">
            <a:avLst/>
          </a:prstGeom>
          <a:solidFill>
            <a:srgbClr val="F2B134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43584"/>
            <a:ext cx="4069080" cy="3154680"/>
          </a:xfrm>
          <a:prstGeom prst="roundRect">
            <a:avLst>
              <a:gd name="adj" fmla="val 2319"/>
            </a:avLst>
          </a:prstGeom>
          <a:solidFill>
            <a:srgbClr val="FBEFD8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716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5A1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微调前 · 原始基座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1828800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5A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回答冗长、思考链口语化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17627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5A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表述松散、建议不够严谨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523744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5A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含“饮用淡盐水”等不规范建议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4069080" cy="18288"/>
          </a:xfrm>
          <a:prstGeom prst="rect">
            <a:avLst/>
          </a:prstGeom>
          <a:solidFill>
            <a:srgbClr val="F2B134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063240"/>
            <a:ext cx="3520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03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“……首先，我得考虑用户可能是什么</a:t>
            </a:r>
            <a:endParaRPr lang="en-US" sz="1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03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身份……\n### 饮食控制：1.低糖高纤维…</a:t>
            </a:r>
            <a:endParaRPr lang="en-US" sz="1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03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3.适量饮用淡盐水：每天 2-3 杯…</a:t>
            </a:r>
            <a:endParaRPr lang="en-US" sz="1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03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### 运动建议：1.中等强度有氧…</a:t>
            </a:r>
            <a:endParaRPr lang="en-US" sz="1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03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2.力量训练…</a:t>
            </a:r>
            <a:endParaRPr lang="en-US" sz="1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03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3.避免过度运动…”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17720" y="1188720"/>
            <a:ext cx="4069080" cy="54864"/>
          </a:xfrm>
          <a:prstGeom prst="rect">
            <a:avLst/>
          </a:prstGeom>
          <a:solidFill>
            <a:srgbClr val="0E9F8F"/>
          </a:solidFill>
          <a:ln/>
        </p:spPr>
      </p:sp>
      <p:sp>
        <p:nvSpPr>
          <p:cNvPr id="13" name="Shape 11"/>
          <p:cNvSpPr/>
          <p:nvPr/>
        </p:nvSpPr>
        <p:spPr>
          <a:xfrm>
            <a:off x="4617720" y="1243584"/>
            <a:ext cx="4069080" cy="3154680"/>
          </a:xfrm>
          <a:prstGeom prst="roundRect">
            <a:avLst>
              <a:gd name="adj" fmla="val 2319"/>
            </a:avLst>
          </a:prstGeom>
          <a:solidFill>
            <a:srgbClr val="EAF7F5"/>
          </a:solidFill>
          <a:ln w="12700">
            <a:solidFill>
              <a:srgbClr val="0E9F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3716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807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微调后 · 医疗专家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37760" y="1828800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B80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结构清晰、先结论后分点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217627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B80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医学术语规范、表述严谨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2523744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B80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“### 饮食/运动建议 + 总结”收束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17720" y="2926080"/>
            <a:ext cx="4069080" cy="18288"/>
          </a:xfrm>
          <a:prstGeom prst="rect">
            <a:avLst/>
          </a:prstGeom>
          <a:solidFill>
            <a:srgbClr val="0E9F8F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3063240"/>
            <a:ext cx="3520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03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“对 2 型糖尿病患者来说，日常饮食和</a:t>
            </a:r>
            <a:endParaRPr lang="en-US" sz="1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03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运动安排至关重要…\n### 饮食建议：1.高纤维…2.低盐…</a:t>
            </a:r>
            <a:endParaRPr lang="en-US" sz="1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03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3.均衡…4.避免高脂…\n### 运动建议：1.避免高糖…\n### 总结：通过合理饮食与适量运动…</a:t>
            </a:r>
            <a:endParaRPr lang="en-US" sz="1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03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促进健康生活方式。”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526280"/>
            <a:ext cx="8229600" cy="274320"/>
          </a:xfrm>
          <a:prstGeom prst="roundRect">
            <a:avLst>
              <a:gd name="adj" fmla="val 166667"/>
            </a:avLst>
          </a:prstGeom>
          <a:solidFill>
            <a:srgbClr val="FFF6E3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553712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A63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演示题：开放式常见病咨询（糖尿病生活建议） · 输出来自 deepseek_val.py 实测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479145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效果验证与部署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503920" y="4791456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8872" cy="457200"/>
          </a:xfrm>
          <a:prstGeom prst="rect">
            <a:avLst/>
          </a:prstGeom>
          <a:solidFill>
            <a:srgbClr val="0E9F8F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0175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spc="150" kern="0" dirty="0">
                <a:solidFill>
                  <a:srgbClr val="20303B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部署：FastAPI 推理服务（两种形态）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0E9F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3619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9F8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deepseek_deploy.py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749040" y="157276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03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纯 API 服务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0" y="1691640"/>
            <a:ext cx="1005840" cy="384048"/>
          </a:xfrm>
          <a:prstGeom prst="roundRect">
            <a:avLst>
              <a:gd name="adj" fmla="val 119048"/>
            </a:avLst>
          </a:prstGeom>
          <a:solidFill>
            <a:srgbClr val="F2F8F7"/>
          </a:solidFill>
          <a:ln w="12700">
            <a:solidFill>
              <a:srgbClr val="0E9F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32120" y="17373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9F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端口 8000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675120" y="16916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/chat（POST）· /health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65176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0E9F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81635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9F8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deepseek_deploy_ui.py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749040" y="285292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03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界面化服务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0" y="2971800"/>
            <a:ext cx="1005840" cy="384048"/>
          </a:xfrm>
          <a:prstGeom prst="roundRect">
            <a:avLst>
              <a:gd name="adj" fmla="val 119048"/>
            </a:avLst>
          </a:prstGeom>
          <a:solidFill>
            <a:srgbClr val="F2F8F7"/>
          </a:solidFill>
          <a:ln w="12700">
            <a:solidFill>
              <a:srgbClr val="0E9F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32120" y="30175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9F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端口 8001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675120" y="29718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可视化界面 + /chat/stream (SSE 流式)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54864" cy="640080"/>
          </a:xfrm>
          <a:prstGeom prst="rect">
            <a:avLst/>
          </a:prstGeom>
          <a:solidFill>
            <a:srgbClr val="F2B134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977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03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浏览器/curl → POST /chat → 医疗专家模型 → 返回医学回答；/health 返回状态、设备(cuda)、显存，作为部署成功依据。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79145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效果验证与部署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503920" y="4791456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8872" cy="457200"/>
          </a:xfrm>
          <a:prstGeom prst="rect">
            <a:avLst/>
          </a:prstGeom>
          <a:solidFill>
            <a:srgbClr val="0E9F8F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0175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spc="150" kern="0" dirty="0">
                <a:solidFill>
                  <a:srgbClr val="20303B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界面化部署：可视化 Web 界面（真实运行截图）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53035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5240">
            <a:solidFill>
              <a:srgbClr val="0E9F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0972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F8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/chat · 医疗咨询（SSE 流式回答）</a:t>
            </a:r>
            <a:endParaRPr lang="en-US" sz="1200" dirty="0"/>
          </a:p>
        </p:txBody>
      </p:sp>
      <p:pic>
        <p:nvPicPr>
          <p:cNvPr id="6" name="Image 0" descr="D:\trae_project\deepseek医疗专家\docs\assets\chat_1500x1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2436" y="1444752"/>
            <a:ext cx="3813048" cy="2542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4023360"/>
            <a:ext cx="5084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患者提问 → 医疗专家结构化作答，实时回显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943600" y="1024128"/>
            <a:ext cx="3200400" cy="329184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6E6E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053328" y="10972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F8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/health · 健康检查（部署凭据）</a:t>
            </a:r>
            <a:endParaRPr lang="en-US" sz="1200" dirty="0"/>
          </a:p>
        </p:txBody>
      </p:sp>
      <p:pic>
        <p:nvPicPr>
          <p:cNvPr id="10" name="Image 1" descr="D:\trae_project\deepseek医疗专家\docs\assets\health_1500x100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0810" y="1444752"/>
            <a:ext cx="2125980" cy="1417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053328" y="2980944"/>
            <a:ext cx="2980944" cy="1225296"/>
          </a:xfrm>
          <a:prstGeom prst="roundRect">
            <a:avLst>
              <a:gd name="adj" fmla="val 4478"/>
            </a:avLst>
          </a:prstGeom>
          <a:solidFill>
            <a:srgbClr val="F2F8F7"/>
          </a:solidFill>
          <a:ln w="12700">
            <a:solidFill>
              <a:srgbClr val="D6E6E2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126480" y="303580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status：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7086600" y="303580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B80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ok · 服务在线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6126480" y="332841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device：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7086600" y="332841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B80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cuda:0 · GPU 推理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6126480" y="362102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显存：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7086600" y="362102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B80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3.3 / 3.4 GiB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6126480" y="391363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model：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7086600" y="391363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B80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…-1.5B-Medical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457200" y="44622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A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现场演示：访问 http://127.0.0.1:8001/ ，输入问题即流式回显；支持推荐问题、清空对话。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457200" y="479145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效果验证与部署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8503920" y="4791456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8872" cy="457200"/>
          </a:xfrm>
          <a:prstGeom prst="rect">
            <a:avLst/>
          </a:prstGeom>
          <a:solidFill>
            <a:srgbClr val="0E9F8F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0175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spc="150" kern="0" dirty="0">
                <a:solidFill>
                  <a:srgbClr val="20303B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总结：项目成果与调优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572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6E6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527048"/>
            <a:ext cx="146304" cy="146304"/>
          </a:xfrm>
          <a:prstGeom prst="ellipse">
            <a:avLst/>
          </a:prstGeom>
          <a:solidFill>
            <a:srgbClr val="0E9F8F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144475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03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完整跑通 数据→训练→合并→验证→部署 全流程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4572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6E6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2075688"/>
            <a:ext cx="146304" cy="146304"/>
          </a:xfrm>
          <a:prstGeom prst="ellipse">
            <a:avLst/>
          </a:prstGeom>
          <a:solidFill>
            <a:srgbClr val="0E9F8F"/>
          </a:solidFill>
          <a:ln/>
        </p:spPr>
      </p:sp>
      <p:sp>
        <p:nvSpPr>
          <p:cNvPr id="9" name="Text 7"/>
          <p:cNvSpPr/>
          <p:nvPr/>
        </p:nvSpPr>
        <p:spPr>
          <a:xfrm>
            <a:off x="932688" y="199339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03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训练 / 验证损失同步收敛，无明显过拟合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4572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6E6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2624328"/>
            <a:ext cx="146304" cy="146304"/>
          </a:xfrm>
          <a:prstGeom prst="ellipse">
            <a:avLst/>
          </a:prstGeom>
          <a:solidFill>
            <a:srgbClr val="0E9F8F"/>
          </a:solidFill>
          <a:ln/>
        </p:spPr>
      </p:sp>
      <p:sp>
        <p:nvSpPr>
          <p:cNvPr id="12" name="Text 10"/>
          <p:cNvSpPr/>
          <p:nvPr/>
        </p:nvSpPr>
        <p:spPr>
          <a:xfrm>
            <a:off x="932688" y="254203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03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微调后回答结构清晰、医学术语规范（风格模仿见效）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4572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6E6E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" y="3172968"/>
            <a:ext cx="146304" cy="146304"/>
          </a:xfrm>
          <a:prstGeom prst="ellipse">
            <a:avLst/>
          </a:prstGeom>
          <a:solidFill>
            <a:srgbClr val="0E9F8F"/>
          </a:solidFill>
          <a:ln/>
        </p:spPr>
      </p:sp>
      <p:sp>
        <p:nvSpPr>
          <p:cNvPr id="15" name="Text 13"/>
          <p:cNvSpPr/>
          <p:nvPr/>
        </p:nvSpPr>
        <p:spPr>
          <a:xfrm>
            <a:off x="932688" y="309067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03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落地可用的 FastAPI 接口与可视化 Web 服务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303520" y="1371600"/>
            <a:ext cx="27432" cy="2286000"/>
          </a:xfrm>
          <a:prstGeom prst="rect">
            <a:avLst/>
          </a:prstGeom>
          <a:solidFill>
            <a:srgbClr val="D6E6E2"/>
          </a:solidFill>
          <a:ln/>
        </p:spPr>
      </p:sp>
      <p:sp>
        <p:nvSpPr>
          <p:cNvPr id="17" name="Text 15"/>
          <p:cNvSpPr/>
          <p:nvPr/>
        </p:nvSpPr>
        <p:spPr>
          <a:xfrm>
            <a:off x="5577840" y="1371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303B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调优方向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577840" y="1874520"/>
            <a:ext cx="109728" cy="109728"/>
          </a:xfrm>
          <a:prstGeom prst="roundRect">
            <a:avLst/>
          </a:prstGeom>
          <a:solidFill>
            <a:srgbClr val="F2B134"/>
          </a:solidFill>
          <a:ln/>
        </p:spPr>
      </p:sp>
      <p:sp>
        <p:nvSpPr>
          <p:cNvPr id="19" name="Text 17"/>
          <p:cNvSpPr/>
          <p:nvPr/>
        </p:nvSpPr>
        <p:spPr>
          <a:xfrm>
            <a:off x="5806440" y="18013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F8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数据量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720840" y="18013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03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同一病症多用问法、扩充专业分科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577840" y="2441448"/>
            <a:ext cx="109728" cy="109728"/>
          </a:xfrm>
          <a:prstGeom prst="roundRect">
            <a:avLst/>
          </a:prstGeom>
          <a:solidFill>
            <a:srgbClr val="F2B134"/>
          </a:solidFill>
          <a:ln/>
        </p:spPr>
      </p:sp>
      <p:sp>
        <p:nvSpPr>
          <p:cNvPr id="22" name="Text 20"/>
          <p:cNvSpPr/>
          <p:nvPr/>
        </p:nvSpPr>
        <p:spPr>
          <a:xfrm>
            <a:off x="5806440" y="236829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F8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模型规模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20840" y="236829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03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升级 7B/8B 基座，提升诊断准确度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577840" y="3008376"/>
            <a:ext cx="109728" cy="109728"/>
          </a:xfrm>
          <a:prstGeom prst="roundRect">
            <a:avLst/>
          </a:prstGeom>
          <a:solidFill>
            <a:srgbClr val="F2B134"/>
          </a:solidFill>
          <a:ln/>
        </p:spPr>
      </p:sp>
      <p:sp>
        <p:nvSpPr>
          <p:cNvPr id="25" name="Text 23"/>
          <p:cNvSpPr/>
          <p:nvPr/>
        </p:nvSpPr>
        <p:spPr>
          <a:xfrm>
            <a:off x="5806440" y="293522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F8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超参数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720840" y="293522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030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调 r / α、学习率、epoch 精细优化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479145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 总结与展望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503920" y="4791456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8872" cy="457200"/>
          </a:xfrm>
          <a:prstGeom prst="rect">
            <a:avLst/>
          </a:prstGeom>
          <a:solidFill>
            <a:srgbClr val="0E9F8F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0175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spc="150" kern="0" dirty="0">
                <a:solidFill>
                  <a:srgbClr val="20303B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价值与展望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517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6E6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9F8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✓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303B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7×24 智能应答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6060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A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秒级响应急诊咨询，缓解高峰压力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91840" y="1325880"/>
            <a:ext cx="26517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6E6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1554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9F8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✓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474720" y="2194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303B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医生端辅助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66160" y="26060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A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跨学科病例分析、诊疗参考支撑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26480" y="1325880"/>
            <a:ext cx="26517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6E6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554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9F8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✓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309360" y="2194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303B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机构端知识复用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0" y="26060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A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经验固化、知识库集成，降低流失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840480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053B38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95020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FE8E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本模型仅供学习与教学演示，输出不能替代专业医生诊断。生产落地需更大基座 + 医学验证 + 合规审查。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79145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 总结与展望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503920" y="4791456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53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97196"/>
            <a:ext cx="9144000" cy="146304"/>
          </a:xfrm>
          <a:prstGeom prst="rect">
            <a:avLst/>
          </a:prstGeom>
          <a:solidFill>
            <a:srgbClr val="0E9F8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8288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spc="400" kern="0" dirty="0">
                <a:solidFill>
                  <a:srgbClr val="FFFFFF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谢谢聆听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914400" y="3108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FE8E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感谢各位老师与同学的指导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2026-09-10T06:28:58Z</dcterms:created>
  <dcterms:modified xsi:type="dcterms:W3CDTF">2026-09-10T06:28:58Z</dcterms:modified>
</cp:coreProperties>
</file>